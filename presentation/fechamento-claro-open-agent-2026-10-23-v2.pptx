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940a5d4ebf45f7" /><Relationship Type="http://schemas.openxmlformats.org/officeDocument/2006/relationships/extended-properties" Target="/docProps/app.xml" Id="R6af91ff16da14292" /><Relationship Type="http://schemas.openxmlformats.org/officeDocument/2006/relationships/officeDocument" Target="/ppt/presentation.xml" Id="R1bcc1652056a42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42f7ab19b4ea8"/>
  </p:sldMasterIdLst>
  <p:notesMasterIdLst>
    <p:notesMasterId xmlns:r="http://schemas.openxmlformats.org/officeDocument/2006/relationships" r:id="Rd5f4375af84040dd"/>
  </p:notesMasterIdLst>
  <p:sldIdLst>
    <p:sldId xmlns:r="http://schemas.openxmlformats.org/officeDocument/2006/relationships" id="256" r:id="Ra41259d7b7ad4209"/>
    <p:sldId xmlns:r="http://schemas.openxmlformats.org/officeDocument/2006/relationships" id="257" r:id="R62f66e0978574ab4"/>
    <p:sldId xmlns:r="http://schemas.openxmlformats.org/officeDocument/2006/relationships" id="258" r:id="R751a4ece3bdb4e14"/>
    <p:sldId xmlns:r="http://schemas.openxmlformats.org/officeDocument/2006/relationships" id="259" r:id="R27a9402d3cc44100"/>
    <p:sldId xmlns:r="http://schemas.openxmlformats.org/officeDocument/2006/relationships" id="260" r:id="R49c480a404b849fe"/>
    <p:sldId xmlns:r="http://schemas.openxmlformats.org/officeDocument/2006/relationships" id="261" r:id="R9a4f22d3a10643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d29dcd2f4a47fd" /><Relationship Type="http://schemas.openxmlformats.org/officeDocument/2006/relationships/slideMaster" Target="/ppt/slideMasters/slideMaster1.xml" Id="R04a42f7ab19b4ea8" /><Relationship Type="http://schemas.openxmlformats.org/officeDocument/2006/relationships/notesMaster" Target="/ppt/notesMasters/notesMaster1.xml" Id="Rd5f4375af84040dd" /><Relationship Type="http://schemas.openxmlformats.org/officeDocument/2006/relationships/presProps" Target="/ppt/presProps.xml" Id="Reaab23b8c66c46dc" /><Relationship Type="http://schemas.openxmlformats.org/officeDocument/2006/relationships/tableStyles" Target="/ppt/tableStyles.xml" Id="R6681445c8e60479e" /><Relationship Type="http://schemas.openxmlformats.org/officeDocument/2006/relationships/slide" Target="/ppt/slides/slide1.xml" Id="Ra41259d7b7ad4209" /><Relationship Type="http://schemas.openxmlformats.org/officeDocument/2006/relationships/slide" Target="/ppt/slides/slide2.xml" Id="R62f66e0978574ab4" /><Relationship Type="http://schemas.openxmlformats.org/officeDocument/2006/relationships/slide" Target="/ppt/slides/slide3.xml" Id="R751a4ece3bdb4e14" /><Relationship Type="http://schemas.openxmlformats.org/officeDocument/2006/relationships/slide" Target="/ppt/slides/slide4.xml" Id="R27a9402d3cc44100" /><Relationship Type="http://schemas.openxmlformats.org/officeDocument/2006/relationships/slide" Target="/ppt/slides/slide5.xml" Id="R49c480a404b849fe" /><Relationship Type="http://schemas.openxmlformats.org/officeDocument/2006/relationships/slide" Target="/ppt/slides/slide6.xml" Id="R9a4f22d3a10643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a8964c1d784a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7edbe2c7fb44b7" /><Relationship Type="http://schemas.openxmlformats.org/officeDocument/2006/relationships/notesMaster" Target="/ppt/notesMasters/notesMaster1.xml" Id="R7c8bd280645e44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4c63615e1b4ad6" /><Relationship Type="http://schemas.openxmlformats.org/officeDocument/2006/relationships/notesMaster" Target="/ppt/notesMasters/notesMaster1.xml" Id="R3c00f09183a64f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22f13b3eb24f57" /><Relationship Type="http://schemas.openxmlformats.org/officeDocument/2006/relationships/notesMaster" Target="/ppt/notesMasters/notesMaster1.xml" Id="R70694da8858045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ffd52ffe3142ba" /><Relationship Type="http://schemas.openxmlformats.org/officeDocument/2006/relationships/notesMaster" Target="/ppt/notesMasters/notesMaster1.xml" Id="R01f0e427a09046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57fc19161047d4" /><Relationship Type="http://schemas.openxmlformats.org/officeDocument/2006/relationships/notesMaster" Target="/ppt/notesMasters/notesMaster1.xml" Id="R4cce0950db3941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09d179229a40ea" /><Relationship Type="http://schemas.openxmlformats.org/officeDocument/2006/relationships/notesMaster" Target="/ppt/notesMasters/notesMaster1.xml" Id="R2fa356eae49d4d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Agent Hackathon 2026. Primary track: The Agent That Can Explain Why. Working prototype demonstrated on 23 October. Source: project README and actual local execution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example from src/fixtures.mjs. These are supplied records, not independently audited facts. Formula: 20000 - 600 - 0 = 19400 cents. Observed 18400 cents. Difference 1000 cents.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running local application after real Zetaris registration and SQL checks. Seven orders, nine settlements and one refund. Close cutoff 21 October 2026. All records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modules: src/staging.mjs, src/zetaris.mjs, scripts/register-zetaris-sources.py, src/core.mjs, src/memory.ts, src/nightshift.mjs, src/investigator.ts, scripts/live-server.ts. Official contracts: https://kbase.zetaris.com/knowledge/sql-manual and https://github.com/Meterless/Meterless/blob/1742dec56a66e58eef9dda2d2b865823758ca8cd/docs/agent-ready/add-meterless-provider.md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evidence: evidence/zetaris-close.json. Development review: docs/CURSOR-REVIEW.md. Automated tests: tests/*.test.ts. Current readiness: docs/READINESS.md. No measured accuracy, time savings, customers or fraud-detection performance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Left: demonstrated workflow. Right: future plans, not completed features. Project repository: https://github.com/Brunof94-debug/fechamento-claro-open-agent . Event: https://hackathon.genai.works/event/open-agent-hackathon-2026#rules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49219935447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29d99bfdb40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ecbe9d43c41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004e40c8a42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66d16eb4e48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7b951df2849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93510B-7B57-4BDF-A7BE-63A7E08C8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7565DE-F4F1-442E-9E9C-8B68C0B3F2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3357E5-A289-4E6F-8A4B-6217E6451F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C7E296-23D3-494E-9032-49653FDC9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121302-55F3-48B8-BED2-61076D5BEF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9ACD3F-6B4A-4015-8C8E-9823B564FC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3EB1D4-684A-406A-9929-E07C3D483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CE4304-AC13-48EB-B2EB-AAC661472D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809177-AD68-4DC0-BDEC-9409DD12C6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1F3494-D3BA-4D7C-A665-11C7F3369C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74528a18e34bbd" /><Relationship Type="http://schemas.openxmlformats.org/officeDocument/2006/relationships/slideLayout" Target="/ppt/slideLayouts/slideLayout1.xml" Id="Rd0e347681f5e49ee" /><Relationship Type="http://schemas.openxmlformats.org/officeDocument/2006/relationships/slideLayout" Target="/ppt/slideLayouts/slideLayout2.xml" Id="R7ee6b1694e2841b1" /><Relationship Type="http://schemas.openxmlformats.org/officeDocument/2006/relationships/slideLayout" Target="/ppt/slideLayouts/slideLayout3.xml" Id="R451d0125ac8a4c10" /><Relationship Type="http://schemas.openxmlformats.org/officeDocument/2006/relationships/slideLayout" Target="/ppt/slideLayouts/slideLayout4.xml" Id="R67909f79fafd4d1a" /><Relationship Type="http://schemas.openxmlformats.org/officeDocument/2006/relationships/slideLayout" Target="/ppt/slideLayouts/slideLayout5.xml" Id="Rfed77852c77b4c61" /><Relationship Type="http://schemas.openxmlformats.org/officeDocument/2006/relationships/slideLayout" Target="/ppt/slideLayouts/slideLayout6.xml" Id="R30e2fec224b24f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e347681f5e49ee"/>
    <p:sldLayoutId xmlns:r="http://schemas.openxmlformats.org/officeDocument/2006/relationships" id="2147483650" r:id="R7ee6b1694e2841b1"/>
    <p:sldLayoutId xmlns:r="http://schemas.openxmlformats.org/officeDocument/2006/relationships" id="2147483651" r:id="R451d0125ac8a4c10"/>
    <p:sldLayoutId xmlns:r="http://schemas.openxmlformats.org/officeDocument/2006/relationships" id="2147483652" r:id="R67909f79fafd4d1a"/>
    <p:sldLayoutId xmlns:r="http://schemas.openxmlformats.org/officeDocument/2006/relationships" id="2147483653" r:id="Rfed77852c77b4c61"/>
    <p:sldLayoutId xmlns:r="http://schemas.openxmlformats.org/officeDocument/2006/relationships" id="2147483654" r:id="R30e2fec224b24f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8ff57dbcc4931" /><Relationship Type="http://schemas.openxmlformats.org/officeDocument/2006/relationships/notesSlide" Target="/ppt/notesSlides/notesSlide1.xml" Id="R44f69ba7fdea4f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5d662aca240a8" /><Relationship Type="http://schemas.openxmlformats.org/officeDocument/2006/relationships/notesSlide" Target="/ppt/notesSlides/notesSlide2.xml" Id="Re68e910c3da846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32fee21cda4809" /><Relationship Type="http://schemas.openxmlformats.org/officeDocument/2006/relationships/image" Target="/ppt/media/image.jpeg" Id="R5acefdd835ea4f14" /><Relationship Type="http://schemas.openxmlformats.org/officeDocument/2006/relationships/notesSlide" Target="/ppt/notesSlides/notesSlide3.xml" Id="R582624e828e34f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029d2529884167" /><Relationship Type="http://schemas.openxmlformats.org/officeDocument/2006/relationships/notesSlide" Target="/ppt/notesSlides/notesSlide4.xml" Id="Rcfe288185c7946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2006a25464c2b" /><Relationship Type="http://schemas.openxmlformats.org/officeDocument/2006/relationships/notesSlide" Target="/ppt/notesSlides/notesSlide5.xml" Id="R660fe365d3154d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40dcfdacb049b1" /><Relationship Type="http://schemas.openxmlformats.org/officeDocument/2006/relationships/notesSlide" Target="/ppt/notesSlides/notesSlide6.xml" Id="Rcdd42bc6dfa343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E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28594-9C6F-4C2A-86EE-0DB37569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8F4E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8F4EA"/>
                </a:solidFill>
                <a:latin typeface="Arial"/>
                <a:ea typeface="Arial"/>
                <a:cs typeface="Arial"/>
              </a:rPr>
              <a:t>Fechamento Claro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3BB5A-C14B-47D4-A7F4-A5A46E28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8F4E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8F4EA"/>
                </a:solidFill>
                <a:latin typeface="Arial"/>
                <a:ea typeface="Arial"/>
                <a:cs typeface="Arial"/>
              </a:rPr>
              <a:t>Settlement differences with source-row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C5AF8-2552-4120-AA83-EB25DEDB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5C7B9"/>
                </a:solidFill>
                <a:latin typeface="Arial"/>
                <a:ea typeface="Arial"/>
                <a:cs typeface="Arial"/>
              </a:rPr>
              <a:t>Bruno Fernandes</a:t>
            </a:r>
          </a:p>
          <a:p xmlns:a="http://schemas.openxmlformats.org/drawingml/2006/main">
            <a:pPr>
              <a:defRPr sz="1875" b="0">
                <a:solidFill>
                  <a:srgbClr val="E5C7B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5C7B9"/>
                </a:solidFill>
                <a:latin typeface="Arial"/>
                <a:ea typeface="Arial"/>
                <a:cs typeface="Arial"/>
              </a:rPr>
              <a:t>Accounting graduate, solo builder</a:t>
            </a:r>
          </a:p>
        </p:txBody>
      </p:sp>
    </p:spTree>
    <p:extLst>
      <p:ext uri="{BB962C8B-B14F-4D97-AF65-F5344CB8AC3E}">
        <p14:creationId xmlns:p14="http://schemas.microsoft.com/office/powerpoint/2010/main" val="314383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6C354-9673-48F6-88D2-22E63D5F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6"/>
                </a:solidFill>
                <a:latin typeface="Arial"/>
                <a:ea typeface="Arial"/>
                <a:cs typeface="Arial"/>
              </a:rPr>
              <a:t>The missing R$10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F0BD1-1027-49F1-9CB1-A4F89225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A small-business owner sees an order and a smaller processor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878BB-4F82-4FD2-B429-3D7A5629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865"/>
                </a:solidFill>
                <a:latin typeface="Arial"/>
                <a:ea typeface="Arial"/>
                <a:cs typeface="Arial"/>
              </a:rPr>
              <a:t>The stated fee explains part of the gap. The remaining cause needs evidence.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F7AA9-F87D-42CD-9405-921BF712DFF1}"/>
              </a:ext>
            </a:extLst>
          </p:cNvPr>
          <p:cNvGraphicFramePr/>
          <p:nvPr/>
        </p:nvGraphicFramePr>
        <p:xfrm>
          <a:off xmlns:a="http://schemas.openxmlformats.org/drawingml/2006/main" x="6191250" y="1666875"/>
          <a:ext xmlns:a="http://schemas.openxmlformats.org/drawingml/2006/main" cx="5238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9550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8F4EA"/>
                          </a:solidFill>
                          <a:latin typeface="Arial"/>
                          <a:ea typeface="Arial"/>
                          <a:cs typeface="Arial"/>
                        </a:rPr>
                        <a:t>Order A-1002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BD0"/>
                      </a:solidFill>
                      <a:prstDash val="solid"/>
                    </a:lnL>
                    <a:lnR w="9525">
                      <a:solidFill>
                        <a:srgbClr val="D6DBD0"/>
                      </a:solidFill>
                      <a:prstDash val="solid"/>
                    </a:lnR>
                    <a:lnT w="9525">
                      <a:solidFill>
                        <a:srgbClr val="D6DBD0"/>
                      </a:solidFill>
                      <a:prstDash val="solid"/>
                    </a:lnT>
                    <a:lnB w="9525">
                      <a:solidFill>
                        <a:srgbClr val="D6DBD0"/>
                      </a:solidFill>
                      <a:prstDash val="solid"/>
                    </a:lnB>
                    <a:solidFill>
                      <a:srgbClr val="173E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8F4EA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BD0"/>
                      </a:solidFill>
                      <a:prstDash val="solid"/>
                    </a:lnR>
                    <a:lnT w="9525">
                      <a:solidFill>
                        <a:srgbClr val="D6DBD0"/>
                      </a:solidFill>
                      <a:prstDash val="solid"/>
                    </a:lnT>
                    <a:lnB w="9525">
                      <a:solidFill>
                        <a:srgbClr val="D6DBD0"/>
                      </a:solidFill>
                      <a:prstDash val="solid"/>
                    </a:lnB>
                    <a:solidFill>
                      <a:srgbClr val="173E4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46"/>
                          </a:solidFill>
                          <a:latin typeface="Arial"/>
                          <a:ea typeface="Arial"/>
                          <a:cs typeface="Arial"/>
                        </a:rPr>
                        <a:t>Gross order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BD0"/>
                      </a:solidFill>
                      <a:prstDash val="solid"/>
                    </a:lnL>
                    <a:lnR w="9525">
                      <a:solidFill>
                        <a:srgbClr val="D6DBD0"/>
                      </a:solidFill>
                      <a:prstDash val="solid"/>
                    </a:lnR>
                    <a:lnB w="9525">
                      <a:solidFill>
                        <a:srgbClr val="D6DBD0"/>
                      </a:solidFill>
                      <a:prstDash val="solid"/>
                    </a:lnB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46"/>
                          </a:solidFill>
                          <a:latin typeface="Arial"/>
                          <a:ea typeface="Arial"/>
                          <a:cs typeface="Arial"/>
                        </a:rPr>
                        <a:t>200.00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BD0"/>
                      </a:solidFill>
                      <a:prstDash val="solid"/>
                    </a:lnR>
                    <a:lnB w="9525">
                      <a:solidFill>
                        <a:srgbClr val="D6DBD0"/>
                      </a:solidFill>
                      <a:prstDash val="solid"/>
                    </a:lnB>
                    <a:solidFill>
                      <a:srgbClr val="F8F4E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46"/>
                          </a:solidFill>
                          <a:latin typeface="Arial"/>
                          <a:ea typeface="Arial"/>
                          <a:cs typeface="Arial"/>
                        </a:rPr>
                        <a:t>Stated fee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BD0"/>
                      </a:solidFill>
                      <a:prstDash val="solid"/>
                    </a:lnL>
                    <a:lnR w="9525">
                      <a:solidFill>
                        <a:srgbClr val="D6DBD0"/>
                      </a:solidFill>
                      <a:prstDash val="solid"/>
                    </a:lnR>
                    <a:lnB w="9525">
                      <a:solidFill>
                        <a:srgbClr val="D6DBD0"/>
                      </a:solidFill>
                      <a:prstDash val="solid"/>
                    </a:lnB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46"/>
                          </a:solidFill>
                          <a:latin typeface="Arial"/>
                          <a:ea typeface="Arial"/>
                          <a:cs typeface="Arial"/>
                        </a:rPr>
                        <a:t>6.00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BD0"/>
                      </a:solidFill>
                      <a:prstDash val="solid"/>
                    </a:lnR>
                    <a:lnB w="9525">
                      <a:solidFill>
                        <a:srgbClr val="D6DBD0"/>
                      </a:solidFill>
                      <a:prstDash val="solid"/>
                    </a:lnB>
                    <a:solidFill>
                      <a:srgbClr val="F8F4E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46"/>
                          </a:solidFill>
                          <a:latin typeface="Arial"/>
                          <a:ea typeface="Arial"/>
                          <a:cs typeface="Arial"/>
                        </a:rPr>
                        <a:t>Received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BD0"/>
                      </a:solidFill>
                      <a:prstDash val="solid"/>
                    </a:lnL>
                    <a:lnR w="9525">
                      <a:solidFill>
                        <a:srgbClr val="D6DBD0"/>
                      </a:solidFill>
                      <a:prstDash val="solid"/>
                    </a:lnR>
                    <a:lnB w="9525">
                      <a:solidFill>
                        <a:srgbClr val="D6DBD0"/>
                      </a:solidFill>
                      <a:prstDash val="solid"/>
                    </a:lnB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46"/>
                          </a:solidFill>
                          <a:latin typeface="Arial"/>
                          <a:ea typeface="Arial"/>
                          <a:cs typeface="Arial"/>
                        </a:rPr>
                        <a:t>184.00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BD0"/>
                      </a:solidFill>
                      <a:prstDash val="solid"/>
                    </a:lnR>
                    <a:lnB w="9525">
                      <a:solidFill>
                        <a:srgbClr val="D6DBD0"/>
                      </a:solidFill>
                      <a:prstDash val="solid"/>
                    </a:lnB>
                    <a:solidFill>
                      <a:srgbClr val="F8F4E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E46"/>
                          </a:solidFill>
                          <a:latin typeface="Arial"/>
                          <a:ea typeface="Arial"/>
                          <a:cs typeface="Arial"/>
                        </a:rPr>
                        <a:t>Unexplained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BD0"/>
                      </a:solidFill>
                      <a:prstDash val="solid"/>
                    </a:lnL>
                    <a:lnR w="9525">
                      <a:solidFill>
                        <a:srgbClr val="D6DBD0"/>
                      </a:solidFill>
                      <a:prstDash val="solid"/>
                    </a:lnR>
                    <a:lnB w="9525">
                      <a:solidFill>
                        <a:srgbClr val="D6DBD0"/>
                      </a:solidFill>
                      <a:prstDash val="solid"/>
                    </a:lnB>
                    <a:solidFill>
                      <a:srgbClr val="F1DD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E46"/>
                          </a:solidFill>
                          <a:latin typeface="Arial"/>
                          <a:ea typeface="Arial"/>
                          <a:cs typeface="Arial"/>
                        </a:rPr>
                        <a:t>10.00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BD0"/>
                      </a:solidFill>
                      <a:prstDash val="solid"/>
                    </a:lnR>
                    <a:lnB w="9525">
                      <a:solidFill>
                        <a:srgbClr val="D6DBD0"/>
                      </a:solidFill>
                      <a:prstDash val="solid"/>
                    </a:lnB>
                    <a:solidFill>
                      <a:srgbClr val="F1DDD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B6B72-7F45-421E-B2AF-CC3850B7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65"/>
                </a:solidFill>
                <a:latin typeface="Arial"/>
                <a:ea typeface="Arial"/>
                <a:cs typeface="Arial"/>
              </a:rPr>
              <a:t>For owners and bookkeepers reviewing a settlement close</a:t>
            </a:r>
          </a:p>
        </p:txBody>
      </p:sp>
    </p:spTree>
    <p:extLst>
      <p:ext uri="{BB962C8B-B14F-4D97-AF65-F5344CB8AC3E}">
        <p14:creationId xmlns:p14="http://schemas.microsoft.com/office/powerpoint/2010/main" val="368349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534AF-BD84-45CB-B93D-A763658F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6"/>
                </a:solidFill>
                <a:latin typeface="Arial"/>
                <a:ea typeface="Arial"/>
                <a:cs typeface="Arial"/>
              </a:rPr>
              <a:t>An investigation tied to the records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9FDAA-DD1E-4366-98BC-0F182A78C4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efdd835ea4f14"/>
          <a:stretch xmlns:a="http://schemas.openxmlformats.org/drawingml/2006/main"/>
        </p:blipFill>
        <p:spPr>
          <a:xfrm xmlns:a="http://schemas.openxmlformats.org/drawingml/2006/main">
            <a:off x="685800" y="1503293"/>
            <a:ext cx="7858125" cy="442291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275E9-BBD5-4CA7-BFE9-EDCB53A8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5C43"/>
                </a:solidFill>
                <a:latin typeface="Arial"/>
                <a:ea typeface="Arial"/>
                <a:cs typeface="Arial"/>
              </a:rPr>
              <a:t>R$126.40</a:t>
            </a:r>
          </a:p>
          <a:p xmlns:a="http://schemas.openxmlformats.org/drawingml/2006/main">
            <a: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5C43"/>
                </a:solidFill>
                <a:latin typeface="Arial"/>
                <a:ea typeface="Arial"/>
                <a:cs typeface="Arial"/>
              </a:rPr>
              <a:t>open due differences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1D998-A131-4FC6-B7CA-B5D968B4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714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3 of 7 orders explained</a:t>
            </a:r>
          </a:p>
          <a:p xmlns:a="http://schemas.openxmlformats.org/drawingml/2006/main">
            <a: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2 source reviews</a:t>
            </a:r>
          </a:p>
          <a:p xmlns:a="http://schemas.openxmlformats.org/drawingml/2006/main">
            <a:pPr>
              <a:defRPr sz="2025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1 order not yet due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69ADC-6163-4C08-B6A3-DBAF6CCD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0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65"/>
                </a:solidFill>
                <a:latin typeface="Arial"/>
                <a:ea typeface="Arial"/>
                <a:cs typeface="Arial"/>
              </a:rPr>
              <a:t>Conflicting IDs stay outside the totals.</a:t>
            </a:r>
          </a:p>
        </p:txBody>
      </p:sp>
    </p:spTree>
    <p:extLst>
      <p:ext uri="{BB962C8B-B14F-4D97-AF65-F5344CB8AC3E}">
        <p14:creationId xmlns:p14="http://schemas.microsoft.com/office/powerpoint/2010/main" val="664647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4EE2D-665B-4526-A270-B120E2A9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6"/>
                </a:solidFill>
                <a:latin typeface="Arial"/>
                <a:ea typeface="Arial"/>
                <a:cs typeface="Arial"/>
              </a:rPr>
              <a:t>Local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0F61C-D4E3-4164-9400-96677F27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5C43"/>
                </a:solidFill>
                <a:latin typeface="Arial"/>
                <a:ea typeface="Arial"/>
                <a:cs typeface="Arial"/>
              </a:rPr>
              <a:t>01   Source snapshots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F6B22-959B-4CB0-AFFA-E7674EC1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Strict CSV parsing, original cells, physical line numbers and text checksums.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665A9-F43E-4B95-A30B-D678320B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5C43"/>
                </a:solidFill>
                <a:latin typeface="Arial"/>
                <a:ea typeface="Arial"/>
                <a:cs typeface="Arial"/>
              </a:rPr>
              <a:t>02   Zetaris and cent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06F90-9F8B-4200-A4BD-004B0272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Registered file sources, SQL joins and an independent integer-cent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55EA5-9CB0-406F-8C9F-B560369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5C43"/>
                </a:solidFill>
                <a:latin typeface="Arial"/>
                <a:ea typeface="Arial"/>
                <a:cs typeface="Arial"/>
              </a:rPr>
              <a:t>03   Evidence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2463E-00B5-4B08-A2B8-5CF67B09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Meterless H-MEM recalls recorded findings. Case inspection exposes cited 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9F76F-9957-4C3F-A990-A65E0366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5C43"/>
                </a:solidFill>
                <a:latin typeface="Arial"/>
                <a:ea typeface="Arial"/>
                <a:cs typeface="Arial"/>
              </a:rPr>
              <a:t>04   Nightshift investigator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4D49D-BFEF-47A7-9BF4-8900FF9F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7675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Nightshift selects bounded search and inspection tools. Only inspected findings reach the answer.</a:t>
            </a:r>
          </a:p>
        </p:txBody>
      </p:sp>
    </p:spTree>
    <p:extLst>
      <p:ext uri="{BB962C8B-B14F-4D97-AF65-F5344CB8AC3E}">
        <p14:creationId xmlns:p14="http://schemas.microsoft.com/office/powerpoint/2010/main" val="12996871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73507-7761-4A5D-9158-29C33AA9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6"/>
                </a:solidFill>
                <a:latin typeface="Arial"/>
                <a:ea typeface="Arial"/>
                <a:cs typeface="Arial"/>
              </a:rPr>
              <a:t>Execution evidence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2528F-ADE4-4A18-A56B-6E1DFAEE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5C43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09E9E-FBB6-4EA0-919F-AF32EA79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85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Zetaris matched all counted cent totals. Nightshift selected evidence tools locally.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19 automated checks passed.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Actual Cursor review led to recorded fixes.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74771-B9EC-4617-BCB0-0B13012B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192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5C43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AA037-ECE3-4A52-AB73-177DADE6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4857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Seven fictional orders demonstrate behavior, not production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A model can fail to select a valid tool within six turns. The app then returns an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Source truth and the cause of a gap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2985715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157B1-43BD-462E-A6A7-E942635A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E46"/>
                </a:solidFill>
                <a:latin typeface="Arial"/>
                <a:ea typeface="Arial"/>
                <a:cs typeface="Arial"/>
              </a:rPr>
              <a:t>Next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D797A-6DBA-4E41-96E2-B67610E7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5C43"/>
                </a:solidFill>
                <a:latin typeface="Arial"/>
                <a:ea typeface="Arial"/>
                <a:cs typeface="Arial"/>
              </a:rPr>
              <a:t>Demonstrated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52964-BABF-4F95-A911-1E975791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Register sources in Zetaris, verify totals and inspect the original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Use Nightshift to select evidence tools and export the accepted trail.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E6BF7-3168-4186-8832-39A7AA27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85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5C43"/>
                </a:solidFill>
                <a:latin typeface="Arial"/>
                <a:ea typeface="Arial"/>
                <a:cs typeface="Arial"/>
              </a:rPr>
              <a:t>After the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83D3A-5D4B-477C-BE44-C7BD7899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193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Validate the workflow with bookkeepers using authorized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E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E46"/>
                </a:solidFill>
                <a:latin typeface="Arial"/>
                <a:ea typeface="Arial"/>
                <a:cs typeface="Arial"/>
              </a:rPr>
              <a:t>Add explicit fee-contract policies and broader date and source-format coverage.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D7266-0308-4937-8794-2371B97A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8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65"/>
                </a:solidFill>
                <a:latin typeface="Arial"/>
                <a:ea typeface="Arial"/>
                <a:cs typeface="Arial"/>
              </a:rPr>
              <a:t>github.com/Brunof94-debug/fechamento-claro-open-agent</a:t>
            </a:r>
          </a:p>
        </p:txBody>
      </p:sp>
    </p:spTree>
    <p:extLst>
      <p:ext uri="{BB962C8B-B14F-4D97-AF65-F5344CB8AC3E}">
        <p14:creationId xmlns:p14="http://schemas.microsoft.com/office/powerpoint/2010/main" val="187032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2026-10-23T03:52:24.4520000Z</dcterms:created>
  <dcterms:modified xsi:type="dcterms:W3CDTF">2026-10-23T03:52:24.4530000Z</dcterms:modified>
</coreProperties>
</file>